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6" r:id="rId3"/>
    <p:sldId id="264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4713B-FCAE-42D3-9F6B-04DAF55ED17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B62305-2484-486C-B050-AF3CB80ADB6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413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FC0FC-322A-7398-F6A1-6E939F7A1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7A330E-289A-3535-7AF4-1E3D742F4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96829-6D5A-3749-80D0-E7A17DF37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96684-9A75-6BA2-ED38-FA3609E97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9BE49-9195-5A8E-62CC-A202ECC7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777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D143-5055-D311-B4F0-46D2BA38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F7212-3499-AAAB-7B32-D2BB8A78C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08DEF5-0175-1780-5272-D5505DD28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347FB-19C4-DBCA-DB23-609FDC39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D7447-0908-6F6D-ADF6-A50160284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468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3A4C-9F62-E18E-A345-D007C6DB0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95E9B-F5B4-DE96-90B7-A9BC9FDB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1F554-E853-D0D4-850E-92D13D0C2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D533B-B1C6-890A-5B5E-0523979FB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798BA-47C2-3BFF-56C1-AD324F0FF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32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2D6CA-3976-7124-92F7-AC91EA500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3CA44-93B9-E1D9-EEB8-EDE0B40CA8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BE95-4BDE-8135-97AD-99747DBCB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69623-31FF-311C-B715-35FED70F5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3C009-21AE-D5A0-12E4-DC8A4FAA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7D17A-9AD8-A25E-7D1E-9569F471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0089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36D3-21DE-5363-E900-8A6597C7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A71D0-CFAB-4700-8D45-51FFC7CB5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6DB3EF-34CC-3510-EB1F-3D01668EA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7FB050-4A00-607C-959C-2AFD334C7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AC8E6-D7E0-A46D-B075-31D54191C6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221A3-A4DE-0118-F156-DD4C843DF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BA7BB-0B47-4B0D-77FA-9344E2B66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F5BF68-9BC6-AFCA-769C-4694A7EA3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718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D59A-C69A-E1AF-3B5C-928E176B2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B254A-A51F-DBAD-0617-64F4E916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33AB6-14E0-DB93-15A6-4C3ED671E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056929-7D5F-4947-608A-0AA1622E5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338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3F384-45BA-4B9C-515F-04E331EF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3121A7-8CB6-F09B-A269-DBFF009C4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DA8C8-6B82-FB20-B723-0654DD4B8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193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2FFF9-F3E1-32E1-8FAE-D7EB9DD6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97B10-C425-4067-E7A6-9A211319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5C2BD-E41D-4870-6F19-13687850F9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2C09F-66E7-8FB0-1B92-E20828154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E0672C-280C-0D98-42C5-025616E5F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79BF5-2FDF-3769-17BD-7DD4DB92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580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BA3DE-4B42-B084-2079-76BE9033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02660D-AC30-E5FB-A805-674E817079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57BAD-4B8C-A57A-D42C-EEE32B3CC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564256-C306-D0CD-27DB-12725186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DDA29-F701-8DEA-4046-6B64F501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F8B4D-4F6E-FA73-8052-7A2CCD94F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24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2FBA6-D007-7B46-DEEC-631DC9F2D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16DBFF-F8CB-07DA-74F5-C0D8A1A3C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B6B2F-2D68-1BFE-F4C9-F7EB1708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B2C54-4432-FC3E-763D-A579533C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577B-841D-1399-AEC7-F43A2EFC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11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A7FBE-272A-5A0A-3336-F4F4DFF21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A491A-57BF-7F72-C6AC-611979594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FD4CD-4704-4F38-7898-8739E6C3C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C37A9-79BC-1CB5-40FF-70063D537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0766F-E1DB-921E-CE38-937C3B04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659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A8A36-A891-BEB4-3FBC-6BC688E47A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585" y="99721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Cover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03451-4AE7-2EC6-9E57-60FE29149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585" y="387694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DC68972-08DF-CE8B-EA73-9C8FA4BF79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0675" y="6069726"/>
            <a:ext cx="5070722" cy="42818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School Name/Org Name/Program Name</a:t>
            </a:r>
          </a:p>
        </p:txBody>
      </p:sp>
    </p:spTree>
    <p:extLst>
      <p:ext uri="{BB962C8B-B14F-4D97-AF65-F5344CB8AC3E}">
        <p14:creationId xmlns:p14="http://schemas.microsoft.com/office/powerpoint/2010/main" val="31562715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072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888C87-77BE-9416-B659-B96DC3999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54C0D-7030-D571-335C-08A61B325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5883A-6080-9933-86E9-C344D737C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F9B67-AAED-4E3B-B07C-014A552C0C0E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3F121-5BEC-84CB-CDAD-F850EBFB1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5C54E-2F98-A217-9873-BDE6955E45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B5FD1-5B80-4F49-BE04-AC3A7FD12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38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3.svg"/><Relationship Id="rId5" Type="http://schemas.openxmlformats.org/officeDocument/2006/relationships/image" Target="../media/image8.pn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03F37DC-93CC-5286-CD06-441EBDC05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397" y="1485900"/>
            <a:ext cx="6083592" cy="32509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D747325-1A88-CC5B-B08A-1A3E50ABD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994" y="5856002"/>
            <a:ext cx="1072357" cy="816108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76BDE3F9-D3A0-44F8-7703-F365AD138CF5}"/>
              </a:ext>
            </a:extLst>
          </p:cNvPr>
          <p:cNvSpPr txBox="1">
            <a:spLocks/>
          </p:cNvSpPr>
          <p:nvPr/>
        </p:nvSpPr>
        <p:spPr>
          <a:xfrm>
            <a:off x="914753" y="2049591"/>
            <a:ext cx="3940213" cy="18651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Avenir Book" panose="02000503020000020003" pitchFamily="2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>
                    <a:tint val="82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>
                    <a:tint val="82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>
                    <a:tint val="82000"/>
                  </a:schemeClr>
                </a:solidFill>
                <a:latin typeface="Avenir Book" panose="02000503020000020003" pitchFamily="2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  <a:t>Data Science Capstone</a:t>
            </a:r>
            <a:b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</a:rPr>
            </a:b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Open Sauce Bold"/>
              </a:rPr>
              <a:t>Guided by </a:t>
            </a:r>
            <a:b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Open Sauce Bold"/>
              </a:rPr>
            </a:b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Open Sauce Bold"/>
              </a:rPr>
              <a:t>Prof. Yuxiao Huang</a:t>
            </a:r>
            <a:b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ea typeface="Roboto" panose="02000000000000000000" pitchFamily="2" charset="0"/>
                <a:cs typeface="Times New Roman" panose="02020603050405020304" pitchFamily="18" charset="0"/>
                <a:sym typeface="Open Sauce Bold"/>
              </a:rPr>
            </a:br>
            <a:endParaRPr lang="en-ID" sz="1800" dirty="0">
              <a:solidFill>
                <a:schemeClr val="tx2"/>
              </a:solidFill>
              <a:latin typeface="Times New Roman" panose="02020603050405020304" pitchFamily="18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Abhilasha Singh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Pranjal Wakpaijan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65AE4A-9FEE-ED4D-FBD9-CCD529B4F975}"/>
              </a:ext>
            </a:extLst>
          </p:cNvPr>
          <p:cNvSpPr/>
          <p:nvPr/>
        </p:nvSpPr>
        <p:spPr>
          <a:xfrm>
            <a:off x="476248" y="514373"/>
            <a:ext cx="3817134" cy="717444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PivotMyTrip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F51A9EB-FAF4-02B0-65B5-7E66AA018113}"/>
              </a:ext>
            </a:extLst>
          </p:cNvPr>
          <p:cNvGrpSpPr/>
          <p:nvPr/>
        </p:nvGrpSpPr>
        <p:grpSpPr>
          <a:xfrm>
            <a:off x="476249" y="514373"/>
            <a:ext cx="578941" cy="717443"/>
            <a:chOff x="2083517" y="117620"/>
            <a:chExt cx="635374" cy="783717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79D531C0-6450-C2B5-5A44-962A4A60B77C}"/>
                </a:ext>
              </a:extLst>
            </p:cNvPr>
            <p:cNvSpPr/>
            <p:nvPr/>
          </p:nvSpPr>
          <p:spPr>
            <a:xfrm>
              <a:off x="2083517" y="117620"/>
              <a:ext cx="635373" cy="783717"/>
            </a:xfrm>
            <a:prstGeom prst="round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6" name="Graphic 25" descr="Marker outline">
              <a:extLst>
                <a:ext uri="{FF2B5EF4-FFF2-40B4-BE49-F238E27FC236}">
                  <a16:creationId xmlns:a16="http://schemas.microsoft.com/office/drawing/2014/main" id="{03124447-659A-347F-733B-AD66B547D9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3518" y="257483"/>
              <a:ext cx="635373" cy="571263"/>
            </a:xfrm>
            <a:prstGeom prst="rect">
              <a:avLst/>
            </a:prstGeom>
          </p:spPr>
        </p:pic>
      </p:grpSp>
      <p:sp>
        <p:nvSpPr>
          <p:cNvPr id="31" name="Freeform 3">
            <a:extLst>
              <a:ext uri="{FF2B5EF4-FFF2-40B4-BE49-F238E27FC236}">
                <a16:creationId xmlns:a16="http://schemas.microsoft.com/office/drawing/2014/main" id="{4E35FF74-871F-8A25-3545-51C25A46FB93}"/>
              </a:ext>
            </a:extLst>
          </p:cNvPr>
          <p:cNvSpPr/>
          <p:nvPr/>
        </p:nvSpPr>
        <p:spPr>
          <a:xfrm>
            <a:off x="144334" y="5115665"/>
            <a:ext cx="2695201" cy="375709"/>
          </a:xfrm>
          <a:custGeom>
            <a:avLst/>
            <a:gdLst/>
            <a:ahLst/>
            <a:cxnLst/>
            <a:rect l="l" t="t" r="r" b="b"/>
            <a:pathLst>
              <a:path w="4013160" h="252640">
                <a:moveTo>
                  <a:pt x="25912" y="0"/>
                </a:moveTo>
                <a:lnTo>
                  <a:pt x="3987247" y="0"/>
                </a:lnTo>
                <a:cubicBezTo>
                  <a:pt x="4001558" y="0"/>
                  <a:pt x="4013160" y="11601"/>
                  <a:pt x="4013160" y="25912"/>
                </a:cubicBezTo>
                <a:lnTo>
                  <a:pt x="4013160" y="226727"/>
                </a:lnTo>
                <a:cubicBezTo>
                  <a:pt x="4013160" y="233600"/>
                  <a:pt x="4010430" y="240191"/>
                  <a:pt x="4005570" y="245050"/>
                </a:cubicBezTo>
                <a:cubicBezTo>
                  <a:pt x="4000711" y="249910"/>
                  <a:pt x="3994120" y="252640"/>
                  <a:pt x="3987247" y="252640"/>
                </a:cubicBezTo>
                <a:lnTo>
                  <a:pt x="25912" y="252640"/>
                </a:lnTo>
                <a:cubicBezTo>
                  <a:pt x="11601" y="252640"/>
                  <a:pt x="0" y="241038"/>
                  <a:pt x="0" y="226727"/>
                </a:cubicBezTo>
                <a:lnTo>
                  <a:pt x="0" y="25912"/>
                </a:lnTo>
                <a:cubicBezTo>
                  <a:pt x="0" y="19040"/>
                  <a:pt x="2730" y="12449"/>
                  <a:pt x="7590" y="7590"/>
                </a:cubicBezTo>
                <a:cubicBezTo>
                  <a:pt x="12449" y="2730"/>
                  <a:pt x="19040" y="0"/>
                  <a:pt x="259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37EB9AE-FCB6-3553-D1B2-E777DCCAFAD7}"/>
              </a:ext>
            </a:extLst>
          </p:cNvPr>
          <p:cNvCxnSpPr>
            <a:cxnSpLocks/>
          </p:cNvCxnSpPr>
          <p:nvPr/>
        </p:nvCxnSpPr>
        <p:spPr>
          <a:xfrm>
            <a:off x="5562600" y="952500"/>
            <a:ext cx="0" cy="44196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Freeform 3">
            <a:extLst>
              <a:ext uri="{FF2B5EF4-FFF2-40B4-BE49-F238E27FC236}">
                <a16:creationId xmlns:a16="http://schemas.microsoft.com/office/drawing/2014/main" id="{E14920FD-604B-3F28-C8F1-1BC5E482CF7F}"/>
              </a:ext>
            </a:extLst>
          </p:cNvPr>
          <p:cNvSpPr/>
          <p:nvPr/>
        </p:nvSpPr>
        <p:spPr>
          <a:xfrm>
            <a:off x="3234707" y="6146777"/>
            <a:ext cx="1483344" cy="393700"/>
          </a:xfrm>
          <a:custGeom>
            <a:avLst/>
            <a:gdLst/>
            <a:ahLst/>
            <a:cxnLst/>
            <a:rect l="l" t="t" r="r" b="b"/>
            <a:pathLst>
              <a:path w="4013160" h="252640">
                <a:moveTo>
                  <a:pt x="25912" y="0"/>
                </a:moveTo>
                <a:lnTo>
                  <a:pt x="3987247" y="0"/>
                </a:lnTo>
                <a:cubicBezTo>
                  <a:pt x="4001558" y="0"/>
                  <a:pt x="4013160" y="11601"/>
                  <a:pt x="4013160" y="25912"/>
                </a:cubicBezTo>
                <a:lnTo>
                  <a:pt x="4013160" y="226727"/>
                </a:lnTo>
                <a:cubicBezTo>
                  <a:pt x="4013160" y="233600"/>
                  <a:pt x="4010430" y="240191"/>
                  <a:pt x="4005570" y="245050"/>
                </a:cubicBezTo>
                <a:cubicBezTo>
                  <a:pt x="4000711" y="249910"/>
                  <a:pt x="3994120" y="252640"/>
                  <a:pt x="3987247" y="252640"/>
                </a:cubicBezTo>
                <a:lnTo>
                  <a:pt x="25912" y="252640"/>
                </a:lnTo>
                <a:cubicBezTo>
                  <a:pt x="11601" y="252640"/>
                  <a:pt x="0" y="241038"/>
                  <a:pt x="0" y="226727"/>
                </a:cubicBezTo>
                <a:lnTo>
                  <a:pt x="0" y="25912"/>
                </a:lnTo>
                <a:cubicBezTo>
                  <a:pt x="0" y="19040"/>
                  <a:pt x="2730" y="12449"/>
                  <a:pt x="7590" y="7590"/>
                </a:cubicBezTo>
                <a:cubicBezTo>
                  <a:pt x="12449" y="2730"/>
                  <a:pt x="19040" y="0"/>
                  <a:pt x="259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algn="ctr"/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</a:p>
        </p:txBody>
      </p:sp>
      <p:sp>
        <p:nvSpPr>
          <p:cNvPr id="37" name="Freeform 3">
            <a:extLst>
              <a:ext uri="{FF2B5EF4-FFF2-40B4-BE49-F238E27FC236}">
                <a16:creationId xmlns:a16="http://schemas.microsoft.com/office/drawing/2014/main" id="{17D37E10-0FC3-8ED6-CCE1-9A2D5C745EF7}"/>
              </a:ext>
            </a:extLst>
          </p:cNvPr>
          <p:cNvSpPr/>
          <p:nvPr/>
        </p:nvSpPr>
        <p:spPr>
          <a:xfrm>
            <a:off x="1805571" y="5663339"/>
            <a:ext cx="1737729" cy="375709"/>
          </a:xfrm>
          <a:custGeom>
            <a:avLst/>
            <a:gdLst/>
            <a:ahLst/>
            <a:cxnLst/>
            <a:rect l="l" t="t" r="r" b="b"/>
            <a:pathLst>
              <a:path w="4013160" h="252640">
                <a:moveTo>
                  <a:pt x="25912" y="0"/>
                </a:moveTo>
                <a:lnTo>
                  <a:pt x="3987247" y="0"/>
                </a:lnTo>
                <a:cubicBezTo>
                  <a:pt x="4001558" y="0"/>
                  <a:pt x="4013160" y="11601"/>
                  <a:pt x="4013160" y="25912"/>
                </a:cubicBezTo>
                <a:lnTo>
                  <a:pt x="4013160" y="226727"/>
                </a:lnTo>
                <a:cubicBezTo>
                  <a:pt x="4013160" y="233600"/>
                  <a:pt x="4010430" y="240191"/>
                  <a:pt x="4005570" y="245050"/>
                </a:cubicBezTo>
                <a:cubicBezTo>
                  <a:pt x="4000711" y="249910"/>
                  <a:pt x="3994120" y="252640"/>
                  <a:pt x="3987247" y="252640"/>
                </a:cubicBezTo>
                <a:lnTo>
                  <a:pt x="25912" y="252640"/>
                </a:lnTo>
                <a:cubicBezTo>
                  <a:pt x="11601" y="252640"/>
                  <a:pt x="0" y="241038"/>
                  <a:pt x="0" y="226727"/>
                </a:cubicBezTo>
                <a:lnTo>
                  <a:pt x="0" y="25912"/>
                </a:lnTo>
                <a:cubicBezTo>
                  <a:pt x="0" y="19040"/>
                  <a:pt x="2730" y="12449"/>
                  <a:pt x="7590" y="7590"/>
                </a:cubicBezTo>
                <a:cubicBezTo>
                  <a:pt x="12449" y="2730"/>
                  <a:pt x="19040" y="0"/>
                  <a:pt x="259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Tech Stack</a:t>
            </a:r>
          </a:p>
        </p:txBody>
      </p:sp>
      <p:sp>
        <p:nvSpPr>
          <p:cNvPr id="38" name="Freeform 3">
            <a:extLst>
              <a:ext uri="{FF2B5EF4-FFF2-40B4-BE49-F238E27FC236}">
                <a16:creationId xmlns:a16="http://schemas.microsoft.com/office/drawing/2014/main" id="{F027C4F1-063E-58B1-CE6A-A74DBD8E928E}"/>
              </a:ext>
            </a:extLst>
          </p:cNvPr>
          <p:cNvSpPr/>
          <p:nvPr/>
        </p:nvSpPr>
        <p:spPr>
          <a:xfrm>
            <a:off x="8342814" y="4996391"/>
            <a:ext cx="1435098" cy="375709"/>
          </a:xfrm>
          <a:custGeom>
            <a:avLst/>
            <a:gdLst/>
            <a:ahLst/>
            <a:cxnLst/>
            <a:rect l="l" t="t" r="r" b="b"/>
            <a:pathLst>
              <a:path w="4013160" h="252640">
                <a:moveTo>
                  <a:pt x="25912" y="0"/>
                </a:moveTo>
                <a:lnTo>
                  <a:pt x="3987247" y="0"/>
                </a:lnTo>
                <a:cubicBezTo>
                  <a:pt x="4001558" y="0"/>
                  <a:pt x="4013160" y="11601"/>
                  <a:pt x="4013160" y="25912"/>
                </a:cubicBezTo>
                <a:lnTo>
                  <a:pt x="4013160" y="226727"/>
                </a:lnTo>
                <a:cubicBezTo>
                  <a:pt x="4013160" y="233600"/>
                  <a:pt x="4010430" y="240191"/>
                  <a:pt x="4005570" y="245050"/>
                </a:cubicBezTo>
                <a:cubicBezTo>
                  <a:pt x="4000711" y="249910"/>
                  <a:pt x="3994120" y="252640"/>
                  <a:pt x="3987247" y="252640"/>
                </a:cubicBezTo>
                <a:lnTo>
                  <a:pt x="25912" y="252640"/>
                </a:lnTo>
                <a:cubicBezTo>
                  <a:pt x="11601" y="252640"/>
                  <a:pt x="0" y="241038"/>
                  <a:pt x="0" y="226727"/>
                </a:cubicBezTo>
                <a:lnTo>
                  <a:pt x="0" y="25912"/>
                </a:lnTo>
                <a:cubicBezTo>
                  <a:pt x="0" y="19040"/>
                  <a:pt x="2730" y="12449"/>
                  <a:pt x="7590" y="7590"/>
                </a:cubicBezTo>
                <a:cubicBezTo>
                  <a:pt x="12449" y="2730"/>
                  <a:pt x="19040" y="0"/>
                  <a:pt x="2591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26611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Help with solid fill">
            <a:extLst>
              <a:ext uri="{FF2B5EF4-FFF2-40B4-BE49-F238E27FC236}">
                <a16:creationId xmlns:a16="http://schemas.microsoft.com/office/drawing/2014/main" id="{18C376F4-A319-1980-1797-838E7B31C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936" y="3915481"/>
            <a:ext cx="1456607" cy="1456607"/>
          </a:xfrm>
          <a:prstGeom prst="rect">
            <a:avLst/>
          </a:prstGeom>
        </p:spPr>
      </p:pic>
      <p:sp>
        <p:nvSpPr>
          <p:cNvPr id="10" name="TextBox 25">
            <a:extLst>
              <a:ext uri="{FF2B5EF4-FFF2-40B4-BE49-F238E27FC236}">
                <a16:creationId xmlns:a16="http://schemas.microsoft.com/office/drawing/2014/main" id="{B4DF5A0A-97F2-ACEF-3B44-67088F894A12}"/>
              </a:ext>
            </a:extLst>
          </p:cNvPr>
          <p:cNvSpPr txBox="1"/>
          <p:nvPr/>
        </p:nvSpPr>
        <p:spPr>
          <a:xfrm>
            <a:off x="2943996" y="2965177"/>
            <a:ext cx="6140450" cy="614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52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Choosing which attractions to see, identifying hidden gems over tourist traps, and managing time efficiently</a:t>
            </a:r>
            <a:endParaRPr lang="en-US" sz="1600" b="1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Open Sauce Bold"/>
              <a:sym typeface="Open Sauce Bold"/>
            </a:endParaRPr>
          </a:p>
        </p:txBody>
      </p:sp>
      <p:sp>
        <p:nvSpPr>
          <p:cNvPr id="11" name="TextBox 26">
            <a:extLst>
              <a:ext uri="{FF2B5EF4-FFF2-40B4-BE49-F238E27FC236}">
                <a16:creationId xmlns:a16="http://schemas.microsoft.com/office/drawing/2014/main" id="{426B48B0-3244-B957-819A-DB4DCDEA4F50}"/>
              </a:ext>
            </a:extLst>
          </p:cNvPr>
          <p:cNvSpPr txBox="1"/>
          <p:nvPr/>
        </p:nvSpPr>
        <p:spPr>
          <a:xfrm>
            <a:off x="3354221" y="4105002"/>
            <a:ext cx="6838875" cy="6141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52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Travelers spend an average of nearly 18 hours planning, with roughly a quarter (22%) finding the process frustrating</a:t>
            </a:r>
            <a:endParaRPr lang="en-US" sz="1600" b="1" dirty="0">
              <a:solidFill>
                <a:schemeClr val="accent3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Open Sauce Bold"/>
              <a:sym typeface="Open Sauce Bold"/>
            </a:endParaRPr>
          </a:p>
        </p:txBody>
      </p:sp>
      <p:sp>
        <p:nvSpPr>
          <p:cNvPr id="12" name="TextBox 27">
            <a:extLst>
              <a:ext uri="{FF2B5EF4-FFF2-40B4-BE49-F238E27FC236}">
                <a16:creationId xmlns:a16="http://schemas.microsoft.com/office/drawing/2014/main" id="{AAA28812-432D-09E2-01E6-03AB47B34E8F}"/>
              </a:ext>
            </a:extLst>
          </p:cNvPr>
          <p:cNvSpPr txBox="1"/>
          <p:nvPr/>
        </p:nvSpPr>
        <p:spPr>
          <a:xfrm>
            <a:off x="3248516" y="5089925"/>
            <a:ext cx="4790325" cy="29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Open Sauce Bold"/>
                <a:sym typeface="Open Sauce Bold"/>
              </a:rPr>
              <a:t>No end-to-end journey connection tools.</a:t>
            </a:r>
          </a:p>
        </p:txBody>
      </p:sp>
      <p:sp>
        <p:nvSpPr>
          <p:cNvPr id="13" name="TextBox 28">
            <a:extLst>
              <a:ext uri="{FF2B5EF4-FFF2-40B4-BE49-F238E27FC236}">
                <a16:creationId xmlns:a16="http://schemas.microsoft.com/office/drawing/2014/main" id="{33631BA8-237A-1220-C3E8-A4ACC030A008}"/>
              </a:ext>
            </a:extLst>
          </p:cNvPr>
          <p:cNvSpPr txBox="1"/>
          <p:nvPr/>
        </p:nvSpPr>
        <p:spPr>
          <a:xfrm>
            <a:off x="2800708" y="5731961"/>
            <a:ext cx="6229024" cy="293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520"/>
              </a:lnSpc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Open Sauce Bold"/>
                <a:sym typeface="Open Sauce Bold"/>
              </a:rPr>
              <a:t>100% manual effort for mid-trip changes.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893319A-E2E5-A49C-2AF0-8F7BE7FB8BF6}"/>
              </a:ext>
            </a:extLst>
          </p:cNvPr>
          <p:cNvGrpSpPr/>
          <p:nvPr/>
        </p:nvGrpSpPr>
        <p:grpSpPr>
          <a:xfrm>
            <a:off x="0" y="2933973"/>
            <a:ext cx="3248516" cy="3419624"/>
            <a:chOff x="0" y="2379752"/>
            <a:chExt cx="3248516" cy="3419624"/>
          </a:xfrm>
        </p:grpSpPr>
        <p:sp>
          <p:nvSpPr>
            <p:cNvPr id="6" name="Flowchart: Delay 5">
              <a:extLst>
                <a:ext uri="{FF2B5EF4-FFF2-40B4-BE49-F238E27FC236}">
                  <a16:creationId xmlns:a16="http://schemas.microsoft.com/office/drawing/2014/main" id="{15515F0B-8727-6295-3500-2998CA4C0DCA}"/>
                </a:ext>
              </a:extLst>
            </p:cNvPr>
            <p:cNvSpPr/>
            <p:nvPr/>
          </p:nvSpPr>
          <p:spPr>
            <a:xfrm>
              <a:off x="0" y="2379752"/>
              <a:ext cx="2800708" cy="3419624"/>
            </a:xfrm>
            <a:custGeom>
              <a:avLst/>
              <a:gdLst>
                <a:gd name="csX0" fmla="*/ 0 w 2731698"/>
                <a:gd name="csY0" fmla="*/ 0 h 4117676"/>
                <a:gd name="csX1" fmla="*/ 1365849 w 2731698"/>
                <a:gd name="csY1" fmla="*/ 0 h 4117676"/>
                <a:gd name="csX2" fmla="*/ 2731698 w 2731698"/>
                <a:gd name="csY2" fmla="*/ 2058838 h 4117676"/>
                <a:gd name="csX3" fmla="*/ 1365849 w 2731698"/>
                <a:gd name="csY3" fmla="*/ 4117676 h 4117676"/>
                <a:gd name="csX4" fmla="*/ 0 w 2731698"/>
                <a:gd name="csY4" fmla="*/ 4117676 h 4117676"/>
                <a:gd name="csX5" fmla="*/ 0 w 2731698"/>
                <a:gd name="csY5" fmla="*/ 0 h 4117676"/>
                <a:gd name="csX0" fmla="*/ 0 w 2967486"/>
                <a:gd name="csY0" fmla="*/ 0 h 4117676"/>
                <a:gd name="csX1" fmla="*/ 1365849 w 2967486"/>
                <a:gd name="csY1" fmla="*/ 0 h 4117676"/>
                <a:gd name="csX2" fmla="*/ 2967486 w 2967486"/>
                <a:gd name="csY2" fmla="*/ 2058838 h 4117676"/>
                <a:gd name="csX3" fmla="*/ 1365849 w 2967486"/>
                <a:gd name="csY3" fmla="*/ 4117676 h 4117676"/>
                <a:gd name="csX4" fmla="*/ 0 w 2967486"/>
                <a:gd name="csY4" fmla="*/ 4117676 h 4117676"/>
                <a:gd name="csX5" fmla="*/ 0 w 2967486"/>
                <a:gd name="csY5" fmla="*/ 0 h 411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2967486" h="4117676">
                  <a:moveTo>
                    <a:pt x="0" y="0"/>
                  </a:moveTo>
                  <a:lnTo>
                    <a:pt x="1365849" y="0"/>
                  </a:lnTo>
                  <a:cubicBezTo>
                    <a:pt x="2120187" y="0"/>
                    <a:pt x="2967486" y="921773"/>
                    <a:pt x="2967486" y="2058838"/>
                  </a:cubicBezTo>
                  <a:cubicBezTo>
                    <a:pt x="2967486" y="3195903"/>
                    <a:pt x="2120187" y="4117676"/>
                    <a:pt x="1365849" y="4117676"/>
                  </a:cubicBezTo>
                  <a:lnTo>
                    <a:pt x="0" y="41176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33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7F5B6A7-0432-D8CA-6F54-06A6DEAC634A}"/>
                </a:ext>
              </a:extLst>
            </p:cNvPr>
            <p:cNvCxnSpPr>
              <a:cxnSpLocks/>
            </p:cNvCxnSpPr>
            <p:nvPr/>
          </p:nvCxnSpPr>
          <p:spPr>
            <a:xfrm>
              <a:off x="2243138" y="5364073"/>
              <a:ext cx="461333" cy="0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571A7C02-E4C2-E3DF-37B3-A9095C20268B}"/>
                </a:ext>
              </a:extLst>
            </p:cNvPr>
            <p:cNvCxnSpPr>
              <a:cxnSpLocks/>
            </p:cNvCxnSpPr>
            <p:nvPr/>
          </p:nvCxnSpPr>
          <p:spPr>
            <a:xfrm>
              <a:off x="2704471" y="4682475"/>
              <a:ext cx="462796" cy="0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88E68D3-2829-C250-6E61-A9517D1198C2}"/>
                </a:ext>
              </a:extLst>
            </p:cNvPr>
            <p:cNvCxnSpPr>
              <a:cxnSpLocks/>
            </p:cNvCxnSpPr>
            <p:nvPr/>
          </p:nvCxnSpPr>
          <p:spPr>
            <a:xfrm>
              <a:off x="2133825" y="2718027"/>
              <a:ext cx="666883" cy="0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5F71CBF-9193-3422-D86D-9C7532A78E34}"/>
                </a:ext>
              </a:extLst>
            </p:cNvPr>
            <p:cNvCxnSpPr>
              <a:cxnSpLocks/>
            </p:cNvCxnSpPr>
            <p:nvPr/>
          </p:nvCxnSpPr>
          <p:spPr>
            <a:xfrm>
              <a:off x="2800708" y="3857852"/>
              <a:ext cx="447808" cy="0"/>
            </a:xfrm>
            <a:prstGeom prst="straightConnector1">
              <a:avLst/>
            </a:prstGeom>
            <a:ln>
              <a:solidFill>
                <a:schemeClr val="bg2">
                  <a:lumMod val="1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F79E99BD-1C89-2D2A-E67E-2A83AF86A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92" y="293937"/>
            <a:ext cx="6813550" cy="718228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46CE8E9-E130-1D76-CF42-6D76508D0C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0994" y="5856002"/>
            <a:ext cx="1072357" cy="816108"/>
          </a:xfrm>
          <a:prstGeom prst="rect">
            <a:avLst/>
          </a:prstGeom>
        </p:spPr>
      </p:pic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E482A3A1-CF98-F1DE-46D9-74CB7D289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92" y="1391123"/>
            <a:ext cx="11891259" cy="958900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10000"/>
              </a:lnSpc>
            </a:pPr>
            <a:r>
              <a:rPr lang="en-US" sz="2400" spc="35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/>
                <a:sym typeface="Calibri"/>
              </a:rPr>
              <a:t>Trip planning today is broken. Travelers face a fragmented landscape of disconnected tools, overwhelming choices, and zero intelligent assistance when plans inevitably change mid-journey</a:t>
            </a:r>
            <a:r>
              <a:rPr lang="en-US" spc="35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  <a:cs typeface="Open Sauce"/>
                <a:sym typeface="Open Sauce"/>
              </a:rPr>
              <a:t>.</a:t>
            </a:r>
          </a:p>
          <a:p>
            <a:pPr algn="just">
              <a:lnSpc>
                <a:spcPct val="11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8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8322F-6FDE-8EEC-9052-51828B35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20">
            <a:extLst>
              <a:ext uri="{FF2B5EF4-FFF2-40B4-BE49-F238E27FC236}">
                <a16:creationId xmlns:a16="http://schemas.microsoft.com/office/drawing/2014/main" id="{5581EF29-C9D0-A8CA-16F7-38EB048ABB67}"/>
              </a:ext>
            </a:extLst>
          </p:cNvPr>
          <p:cNvSpPr/>
          <p:nvPr/>
        </p:nvSpPr>
        <p:spPr>
          <a:xfrm>
            <a:off x="3621361" y="4552945"/>
            <a:ext cx="2809674" cy="1058421"/>
          </a:xfrm>
          <a:custGeom>
            <a:avLst/>
            <a:gdLst/>
            <a:ahLst/>
            <a:cxnLst/>
            <a:rect l="l" t="t" r="r" b="b"/>
            <a:pathLst>
              <a:path w="1144304" h="554309">
                <a:moveTo>
                  <a:pt x="64148" y="0"/>
                </a:moveTo>
                <a:lnTo>
                  <a:pt x="1080155" y="0"/>
                </a:lnTo>
                <a:cubicBezTo>
                  <a:pt x="1115583" y="0"/>
                  <a:pt x="1144304" y="28720"/>
                  <a:pt x="1144304" y="64148"/>
                </a:cubicBezTo>
                <a:lnTo>
                  <a:pt x="1144304" y="490161"/>
                </a:lnTo>
                <a:cubicBezTo>
                  <a:pt x="1144304" y="525589"/>
                  <a:pt x="1115583" y="554309"/>
                  <a:pt x="1080155" y="554309"/>
                </a:cubicBezTo>
                <a:lnTo>
                  <a:pt x="64148" y="554309"/>
                </a:lnTo>
                <a:cubicBezTo>
                  <a:pt x="28720" y="554309"/>
                  <a:pt x="0" y="525589"/>
                  <a:pt x="0" y="490161"/>
                </a:cubicBezTo>
                <a:lnTo>
                  <a:pt x="0" y="64148"/>
                </a:lnTo>
                <a:cubicBezTo>
                  <a:pt x="0" y="28720"/>
                  <a:pt x="28720" y="0"/>
                  <a:pt x="64148" y="0"/>
                </a:cubicBezTo>
                <a:close/>
              </a:path>
            </a:pathLst>
          </a:custGeom>
          <a:solidFill>
            <a:srgbClr val="F8FCFF"/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4" name="Freeform 20">
            <a:extLst>
              <a:ext uri="{FF2B5EF4-FFF2-40B4-BE49-F238E27FC236}">
                <a16:creationId xmlns:a16="http://schemas.microsoft.com/office/drawing/2014/main" id="{C7DC227C-667D-F7CF-3261-F08E6BB08E6A}"/>
              </a:ext>
            </a:extLst>
          </p:cNvPr>
          <p:cNvSpPr/>
          <p:nvPr/>
        </p:nvSpPr>
        <p:spPr>
          <a:xfrm>
            <a:off x="414422" y="4535212"/>
            <a:ext cx="2809674" cy="1058421"/>
          </a:xfrm>
          <a:custGeom>
            <a:avLst/>
            <a:gdLst/>
            <a:ahLst/>
            <a:cxnLst/>
            <a:rect l="l" t="t" r="r" b="b"/>
            <a:pathLst>
              <a:path w="1144304" h="554309">
                <a:moveTo>
                  <a:pt x="64148" y="0"/>
                </a:moveTo>
                <a:lnTo>
                  <a:pt x="1080155" y="0"/>
                </a:lnTo>
                <a:cubicBezTo>
                  <a:pt x="1115583" y="0"/>
                  <a:pt x="1144304" y="28720"/>
                  <a:pt x="1144304" y="64148"/>
                </a:cubicBezTo>
                <a:lnTo>
                  <a:pt x="1144304" y="490161"/>
                </a:lnTo>
                <a:cubicBezTo>
                  <a:pt x="1144304" y="525589"/>
                  <a:pt x="1115583" y="554309"/>
                  <a:pt x="1080155" y="554309"/>
                </a:cubicBezTo>
                <a:lnTo>
                  <a:pt x="64148" y="554309"/>
                </a:lnTo>
                <a:cubicBezTo>
                  <a:pt x="28720" y="554309"/>
                  <a:pt x="0" y="525589"/>
                  <a:pt x="0" y="490161"/>
                </a:cubicBezTo>
                <a:lnTo>
                  <a:pt x="0" y="64148"/>
                </a:lnTo>
                <a:cubicBezTo>
                  <a:pt x="0" y="28720"/>
                  <a:pt x="28720" y="0"/>
                  <a:pt x="64148" y="0"/>
                </a:cubicBezTo>
                <a:close/>
              </a:path>
            </a:pathLst>
          </a:custGeom>
          <a:solidFill>
            <a:srgbClr val="F8FCFF"/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3" name="Freeform 20">
            <a:extLst>
              <a:ext uri="{FF2B5EF4-FFF2-40B4-BE49-F238E27FC236}">
                <a16:creationId xmlns:a16="http://schemas.microsoft.com/office/drawing/2014/main" id="{8A17ED10-A45D-924C-FC5C-38514D8BBA1A}"/>
              </a:ext>
            </a:extLst>
          </p:cNvPr>
          <p:cNvSpPr/>
          <p:nvPr/>
        </p:nvSpPr>
        <p:spPr>
          <a:xfrm>
            <a:off x="414422" y="3191978"/>
            <a:ext cx="2809674" cy="1058421"/>
          </a:xfrm>
          <a:custGeom>
            <a:avLst/>
            <a:gdLst/>
            <a:ahLst/>
            <a:cxnLst/>
            <a:rect l="l" t="t" r="r" b="b"/>
            <a:pathLst>
              <a:path w="1144304" h="554309">
                <a:moveTo>
                  <a:pt x="64148" y="0"/>
                </a:moveTo>
                <a:lnTo>
                  <a:pt x="1080155" y="0"/>
                </a:lnTo>
                <a:cubicBezTo>
                  <a:pt x="1115583" y="0"/>
                  <a:pt x="1144304" y="28720"/>
                  <a:pt x="1144304" y="64148"/>
                </a:cubicBezTo>
                <a:lnTo>
                  <a:pt x="1144304" y="490161"/>
                </a:lnTo>
                <a:cubicBezTo>
                  <a:pt x="1144304" y="525589"/>
                  <a:pt x="1115583" y="554309"/>
                  <a:pt x="1080155" y="554309"/>
                </a:cubicBezTo>
                <a:lnTo>
                  <a:pt x="64148" y="554309"/>
                </a:lnTo>
                <a:cubicBezTo>
                  <a:pt x="28720" y="554309"/>
                  <a:pt x="0" y="525589"/>
                  <a:pt x="0" y="490161"/>
                </a:cubicBezTo>
                <a:lnTo>
                  <a:pt x="0" y="64148"/>
                </a:lnTo>
                <a:cubicBezTo>
                  <a:pt x="0" y="28720"/>
                  <a:pt x="28720" y="0"/>
                  <a:pt x="64148" y="0"/>
                </a:cubicBezTo>
                <a:close/>
              </a:path>
            </a:pathLst>
          </a:custGeom>
          <a:solidFill>
            <a:srgbClr val="F8FCFF"/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42" name="Freeform 20">
            <a:extLst>
              <a:ext uri="{FF2B5EF4-FFF2-40B4-BE49-F238E27FC236}">
                <a16:creationId xmlns:a16="http://schemas.microsoft.com/office/drawing/2014/main" id="{F6C945A1-ACF9-C4CF-ADC6-1B255FF33E90}"/>
              </a:ext>
            </a:extLst>
          </p:cNvPr>
          <p:cNvSpPr/>
          <p:nvPr/>
        </p:nvSpPr>
        <p:spPr>
          <a:xfrm>
            <a:off x="3621361" y="3191978"/>
            <a:ext cx="2809674" cy="1058421"/>
          </a:xfrm>
          <a:custGeom>
            <a:avLst/>
            <a:gdLst/>
            <a:ahLst/>
            <a:cxnLst/>
            <a:rect l="l" t="t" r="r" b="b"/>
            <a:pathLst>
              <a:path w="1144304" h="554309">
                <a:moveTo>
                  <a:pt x="64148" y="0"/>
                </a:moveTo>
                <a:lnTo>
                  <a:pt x="1080155" y="0"/>
                </a:lnTo>
                <a:cubicBezTo>
                  <a:pt x="1115583" y="0"/>
                  <a:pt x="1144304" y="28720"/>
                  <a:pt x="1144304" y="64148"/>
                </a:cubicBezTo>
                <a:lnTo>
                  <a:pt x="1144304" y="490161"/>
                </a:lnTo>
                <a:cubicBezTo>
                  <a:pt x="1144304" y="525589"/>
                  <a:pt x="1115583" y="554309"/>
                  <a:pt x="1080155" y="554309"/>
                </a:cubicBezTo>
                <a:lnTo>
                  <a:pt x="64148" y="554309"/>
                </a:lnTo>
                <a:cubicBezTo>
                  <a:pt x="28720" y="554309"/>
                  <a:pt x="0" y="525589"/>
                  <a:pt x="0" y="490161"/>
                </a:cubicBezTo>
                <a:lnTo>
                  <a:pt x="0" y="64148"/>
                </a:lnTo>
                <a:cubicBezTo>
                  <a:pt x="0" y="28720"/>
                  <a:pt x="28720" y="0"/>
                  <a:pt x="64148" y="0"/>
                </a:cubicBezTo>
                <a:close/>
              </a:path>
            </a:pathLst>
          </a:custGeom>
          <a:solidFill>
            <a:srgbClr val="F8FCFF"/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37" name="Freeform 20">
            <a:extLst>
              <a:ext uri="{FF2B5EF4-FFF2-40B4-BE49-F238E27FC236}">
                <a16:creationId xmlns:a16="http://schemas.microsoft.com/office/drawing/2014/main" id="{5A303148-E8C4-9BCE-3574-B9B841AED543}"/>
              </a:ext>
            </a:extLst>
          </p:cNvPr>
          <p:cNvSpPr/>
          <p:nvPr/>
        </p:nvSpPr>
        <p:spPr>
          <a:xfrm>
            <a:off x="3621361" y="1943819"/>
            <a:ext cx="2809674" cy="1058421"/>
          </a:xfrm>
          <a:custGeom>
            <a:avLst/>
            <a:gdLst/>
            <a:ahLst/>
            <a:cxnLst/>
            <a:rect l="l" t="t" r="r" b="b"/>
            <a:pathLst>
              <a:path w="1144304" h="554309">
                <a:moveTo>
                  <a:pt x="64148" y="0"/>
                </a:moveTo>
                <a:lnTo>
                  <a:pt x="1080155" y="0"/>
                </a:lnTo>
                <a:cubicBezTo>
                  <a:pt x="1115583" y="0"/>
                  <a:pt x="1144304" y="28720"/>
                  <a:pt x="1144304" y="64148"/>
                </a:cubicBezTo>
                <a:lnTo>
                  <a:pt x="1144304" y="490161"/>
                </a:lnTo>
                <a:cubicBezTo>
                  <a:pt x="1144304" y="525589"/>
                  <a:pt x="1115583" y="554309"/>
                  <a:pt x="1080155" y="554309"/>
                </a:cubicBezTo>
                <a:lnTo>
                  <a:pt x="64148" y="554309"/>
                </a:lnTo>
                <a:cubicBezTo>
                  <a:pt x="28720" y="554309"/>
                  <a:pt x="0" y="525589"/>
                  <a:pt x="0" y="490161"/>
                </a:cubicBezTo>
                <a:lnTo>
                  <a:pt x="0" y="64148"/>
                </a:lnTo>
                <a:cubicBezTo>
                  <a:pt x="0" y="28720"/>
                  <a:pt x="28720" y="0"/>
                  <a:pt x="64148" y="0"/>
                </a:cubicBezTo>
                <a:close/>
              </a:path>
            </a:pathLst>
          </a:custGeom>
          <a:solidFill>
            <a:srgbClr val="F8FCFF"/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8" name="Freeform 20">
            <a:extLst>
              <a:ext uri="{FF2B5EF4-FFF2-40B4-BE49-F238E27FC236}">
                <a16:creationId xmlns:a16="http://schemas.microsoft.com/office/drawing/2014/main" id="{567237AC-FA4D-DB96-B655-575B09951AFE}"/>
              </a:ext>
            </a:extLst>
          </p:cNvPr>
          <p:cNvSpPr/>
          <p:nvPr/>
        </p:nvSpPr>
        <p:spPr>
          <a:xfrm>
            <a:off x="394722" y="1949787"/>
            <a:ext cx="2809674" cy="1058421"/>
          </a:xfrm>
          <a:custGeom>
            <a:avLst/>
            <a:gdLst/>
            <a:ahLst/>
            <a:cxnLst/>
            <a:rect l="l" t="t" r="r" b="b"/>
            <a:pathLst>
              <a:path w="1144304" h="554309">
                <a:moveTo>
                  <a:pt x="64148" y="0"/>
                </a:moveTo>
                <a:lnTo>
                  <a:pt x="1080155" y="0"/>
                </a:lnTo>
                <a:cubicBezTo>
                  <a:pt x="1115583" y="0"/>
                  <a:pt x="1144304" y="28720"/>
                  <a:pt x="1144304" y="64148"/>
                </a:cubicBezTo>
                <a:lnTo>
                  <a:pt x="1144304" y="490161"/>
                </a:lnTo>
                <a:cubicBezTo>
                  <a:pt x="1144304" y="525589"/>
                  <a:pt x="1115583" y="554309"/>
                  <a:pt x="1080155" y="554309"/>
                </a:cubicBezTo>
                <a:lnTo>
                  <a:pt x="64148" y="554309"/>
                </a:lnTo>
                <a:cubicBezTo>
                  <a:pt x="28720" y="554309"/>
                  <a:pt x="0" y="525589"/>
                  <a:pt x="0" y="490161"/>
                </a:cubicBezTo>
                <a:lnTo>
                  <a:pt x="0" y="64148"/>
                </a:lnTo>
                <a:cubicBezTo>
                  <a:pt x="0" y="28720"/>
                  <a:pt x="28720" y="0"/>
                  <a:pt x="64148" y="0"/>
                </a:cubicBezTo>
                <a:close/>
              </a:path>
            </a:pathLst>
          </a:custGeom>
          <a:solidFill>
            <a:srgbClr val="F8FCFF"/>
          </a:solidFill>
          <a:ln w="38100" cap="rnd">
            <a:solidFill>
              <a:schemeClr val="accent3">
                <a:lumMod val="75000"/>
              </a:schemeClr>
            </a:solidFill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29" name="Freeform 30">
            <a:extLst>
              <a:ext uri="{FF2B5EF4-FFF2-40B4-BE49-F238E27FC236}">
                <a16:creationId xmlns:a16="http://schemas.microsoft.com/office/drawing/2014/main" id="{D758EF3D-5EB8-A935-AB36-9F7BAB6AA245}"/>
              </a:ext>
            </a:extLst>
          </p:cNvPr>
          <p:cNvSpPr/>
          <p:nvPr/>
        </p:nvSpPr>
        <p:spPr>
          <a:xfrm>
            <a:off x="559443" y="2175102"/>
            <a:ext cx="610230" cy="580660"/>
          </a:xfrm>
          <a:custGeom>
            <a:avLst/>
            <a:gdLst/>
            <a:ahLst/>
            <a:cxnLst/>
            <a:rect l="l" t="t" r="r" b="b"/>
            <a:pathLst>
              <a:path w="1380578" h="1468700">
                <a:moveTo>
                  <a:pt x="0" y="0"/>
                </a:moveTo>
                <a:lnTo>
                  <a:pt x="1380578" y="0"/>
                </a:lnTo>
                <a:lnTo>
                  <a:pt x="1380578" y="1468700"/>
                </a:lnTo>
                <a:lnTo>
                  <a:pt x="0" y="146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9CE74DA6-BF87-B7CB-53F0-224F2064D160}"/>
              </a:ext>
            </a:extLst>
          </p:cNvPr>
          <p:cNvSpPr/>
          <p:nvPr/>
        </p:nvSpPr>
        <p:spPr>
          <a:xfrm>
            <a:off x="3947946" y="2153510"/>
            <a:ext cx="647846" cy="623844"/>
          </a:xfrm>
          <a:custGeom>
            <a:avLst/>
            <a:gdLst/>
            <a:ahLst/>
            <a:cxnLst/>
            <a:rect l="l" t="t" r="r" b="b"/>
            <a:pathLst>
              <a:path w="1028847" h="989564">
                <a:moveTo>
                  <a:pt x="0" y="0"/>
                </a:moveTo>
                <a:lnTo>
                  <a:pt x="1028848" y="0"/>
                </a:lnTo>
                <a:lnTo>
                  <a:pt x="1028848" y="989564"/>
                </a:lnTo>
                <a:lnTo>
                  <a:pt x="0" y="9895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28">
            <a:extLst>
              <a:ext uri="{FF2B5EF4-FFF2-40B4-BE49-F238E27FC236}">
                <a16:creationId xmlns:a16="http://schemas.microsoft.com/office/drawing/2014/main" id="{CCAB7A21-87B8-5318-4ABA-ADFACAFEB0D7}"/>
              </a:ext>
            </a:extLst>
          </p:cNvPr>
          <p:cNvSpPr/>
          <p:nvPr/>
        </p:nvSpPr>
        <p:spPr>
          <a:xfrm>
            <a:off x="744185" y="3366902"/>
            <a:ext cx="274333" cy="642285"/>
          </a:xfrm>
          <a:custGeom>
            <a:avLst/>
            <a:gdLst/>
            <a:ahLst/>
            <a:cxnLst/>
            <a:rect l="l" t="t" r="r" b="b"/>
            <a:pathLst>
              <a:path w="582718" h="1170317">
                <a:moveTo>
                  <a:pt x="0" y="0"/>
                </a:moveTo>
                <a:lnTo>
                  <a:pt x="582718" y="0"/>
                </a:lnTo>
                <a:lnTo>
                  <a:pt x="582718" y="1170318"/>
                </a:lnTo>
                <a:lnTo>
                  <a:pt x="0" y="11703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42" r="-824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4" name="Freeform 16">
            <a:extLst>
              <a:ext uri="{FF2B5EF4-FFF2-40B4-BE49-F238E27FC236}">
                <a16:creationId xmlns:a16="http://schemas.microsoft.com/office/drawing/2014/main" id="{6E12A75A-4CCC-6033-59B1-60B40D345919}"/>
              </a:ext>
            </a:extLst>
          </p:cNvPr>
          <p:cNvSpPr/>
          <p:nvPr/>
        </p:nvSpPr>
        <p:spPr>
          <a:xfrm>
            <a:off x="3922072" y="3353009"/>
            <a:ext cx="699594" cy="621373"/>
          </a:xfrm>
          <a:custGeom>
            <a:avLst/>
            <a:gdLst/>
            <a:ahLst/>
            <a:cxnLst/>
            <a:rect l="l" t="t" r="r" b="b"/>
            <a:pathLst>
              <a:path w="1020145" h="1199237">
                <a:moveTo>
                  <a:pt x="0" y="0"/>
                </a:moveTo>
                <a:lnTo>
                  <a:pt x="1020145" y="0"/>
                </a:lnTo>
                <a:lnTo>
                  <a:pt x="1020145" y="1199238"/>
                </a:lnTo>
                <a:lnTo>
                  <a:pt x="0" y="119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5" name="Freeform 18">
            <a:extLst>
              <a:ext uri="{FF2B5EF4-FFF2-40B4-BE49-F238E27FC236}">
                <a16:creationId xmlns:a16="http://schemas.microsoft.com/office/drawing/2014/main" id="{23649E2C-212D-33FF-975C-4EF82B990A49}"/>
              </a:ext>
            </a:extLst>
          </p:cNvPr>
          <p:cNvSpPr/>
          <p:nvPr/>
        </p:nvSpPr>
        <p:spPr>
          <a:xfrm>
            <a:off x="576236" y="4774785"/>
            <a:ext cx="610230" cy="604746"/>
          </a:xfrm>
          <a:custGeom>
            <a:avLst/>
            <a:gdLst/>
            <a:ahLst/>
            <a:cxnLst/>
            <a:rect l="l" t="t" r="r" b="b"/>
            <a:pathLst>
              <a:path w="1068559" h="989118">
                <a:moveTo>
                  <a:pt x="0" y="0"/>
                </a:moveTo>
                <a:lnTo>
                  <a:pt x="1068559" y="0"/>
                </a:lnTo>
                <a:lnTo>
                  <a:pt x="1068559" y="989117"/>
                </a:lnTo>
                <a:lnTo>
                  <a:pt x="0" y="9891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6" name="Freeform 15">
            <a:extLst>
              <a:ext uri="{FF2B5EF4-FFF2-40B4-BE49-F238E27FC236}">
                <a16:creationId xmlns:a16="http://schemas.microsoft.com/office/drawing/2014/main" id="{8667DF95-AC19-C91F-1E51-D5D55EF6F812}"/>
              </a:ext>
            </a:extLst>
          </p:cNvPr>
          <p:cNvSpPr/>
          <p:nvPr/>
        </p:nvSpPr>
        <p:spPr>
          <a:xfrm>
            <a:off x="3886312" y="4791159"/>
            <a:ext cx="596900" cy="571998"/>
          </a:xfrm>
          <a:custGeom>
            <a:avLst/>
            <a:gdLst/>
            <a:ahLst/>
            <a:cxnLst/>
            <a:rect l="l" t="t" r="r" b="b"/>
            <a:pathLst>
              <a:path w="927404" h="940334">
                <a:moveTo>
                  <a:pt x="0" y="0"/>
                </a:moveTo>
                <a:lnTo>
                  <a:pt x="927404" y="0"/>
                </a:lnTo>
                <a:lnTo>
                  <a:pt x="927404" y="940334"/>
                </a:lnTo>
                <a:lnTo>
                  <a:pt x="0" y="9403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B341170-A5C7-77F4-093D-5D4C40CD03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94" y="5868702"/>
            <a:ext cx="1072357" cy="816108"/>
          </a:xfrm>
          <a:prstGeom prst="rect">
            <a:avLst/>
          </a:prstGeom>
        </p:spPr>
      </p:pic>
      <p:sp>
        <p:nvSpPr>
          <p:cNvPr id="46" name="Title 1">
            <a:extLst>
              <a:ext uri="{FF2B5EF4-FFF2-40B4-BE49-F238E27FC236}">
                <a16:creationId xmlns:a16="http://schemas.microsoft.com/office/drawing/2014/main" id="{6AA3C846-E424-A820-FD45-69187F96B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92" y="293937"/>
            <a:ext cx="3322308" cy="718228"/>
          </a:xfrm>
        </p:spPr>
        <p:txBody>
          <a:bodyPr>
            <a:normAutofit fontScale="90000"/>
          </a:bodyPr>
          <a:lstStyle/>
          <a:p>
            <a:r>
              <a:rPr lang="en-US" sz="54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SOLUTION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08BB042-E0D5-5781-7F64-F9DE6463BB3C}"/>
              </a:ext>
            </a:extLst>
          </p:cNvPr>
          <p:cNvGrpSpPr/>
          <p:nvPr/>
        </p:nvGrpSpPr>
        <p:grpSpPr>
          <a:xfrm>
            <a:off x="8236857" y="283687"/>
            <a:ext cx="3773794" cy="816108"/>
            <a:chOff x="8193517" y="283687"/>
            <a:chExt cx="3817134" cy="717444"/>
          </a:xfrm>
        </p:grpSpPr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66C29160-74BE-F993-A965-4F9E6AA46FB2}"/>
                </a:ext>
              </a:extLst>
            </p:cNvPr>
            <p:cNvSpPr/>
            <p:nvPr/>
          </p:nvSpPr>
          <p:spPr>
            <a:xfrm>
              <a:off x="8193517" y="283687"/>
              <a:ext cx="3817134" cy="71744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latin typeface="Cambria" panose="02040503050406030204" pitchFamily="18" charset="0"/>
                  <a:ea typeface="Cambria" panose="02040503050406030204" pitchFamily="18" charset="0"/>
                </a:rPr>
                <a:t>PivotMyTrip</a:t>
              </a:r>
            </a:p>
          </p:txBody>
        </p: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68F2067-62B2-320D-A89D-B517B39A3A76}"/>
                </a:ext>
              </a:extLst>
            </p:cNvPr>
            <p:cNvGrpSpPr/>
            <p:nvPr/>
          </p:nvGrpSpPr>
          <p:grpSpPr>
            <a:xfrm>
              <a:off x="8193517" y="283687"/>
              <a:ext cx="578941" cy="717443"/>
              <a:chOff x="2083517" y="117620"/>
              <a:chExt cx="635374" cy="783717"/>
            </a:xfrm>
          </p:grpSpPr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B3A02185-6A09-A15B-6DEF-80BD303F72F1}"/>
                  </a:ext>
                </a:extLst>
              </p:cNvPr>
              <p:cNvSpPr/>
              <p:nvPr/>
            </p:nvSpPr>
            <p:spPr>
              <a:xfrm>
                <a:off x="2083517" y="117620"/>
                <a:ext cx="635373" cy="783717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0" name="Graphic 49" descr="Marker outline">
                <a:extLst>
                  <a:ext uri="{FF2B5EF4-FFF2-40B4-BE49-F238E27FC236}">
                    <a16:creationId xmlns:a16="http://schemas.microsoft.com/office/drawing/2014/main" id="{445490DB-2738-3FBA-7640-87D77022E0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083518" y="257483"/>
                <a:ext cx="635373" cy="571263"/>
              </a:xfrm>
              <a:prstGeom prst="rect">
                <a:avLst/>
              </a:prstGeom>
            </p:spPr>
          </p:pic>
        </p:grpSp>
      </p:grpSp>
      <p:pic>
        <p:nvPicPr>
          <p:cNvPr id="53" name="Graphic 52" descr="Head with gears outline">
            <a:extLst>
              <a:ext uri="{FF2B5EF4-FFF2-40B4-BE49-F238E27FC236}">
                <a16:creationId xmlns:a16="http://schemas.microsoft.com/office/drawing/2014/main" id="{BC006036-177D-5DF4-1EDC-3A15F45E81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8132878" y="3134492"/>
            <a:ext cx="2598057" cy="2598057"/>
          </a:xfrm>
          <a:prstGeom prst="rect">
            <a:avLst/>
          </a:prstGeom>
        </p:spPr>
      </p:pic>
      <p:pic>
        <p:nvPicPr>
          <p:cNvPr id="55" name="Graphic 54" descr="Thought bubble outline">
            <a:extLst>
              <a:ext uri="{FF2B5EF4-FFF2-40B4-BE49-F238E27FC236}">
                <a16:creationId xmlns:a16="http://schemas.microsoft.com/office/drawing/2014/main" id="{7108C026-E068-860A-908F-4A9E7FB5D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26171" y="1404842"/>
            <a:ext cx="2024158" cy="2024158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6CFE04C-7695-6492-8180-57DCDE68967F}"/>
              </a:ext>
            </a:extLst>
          </p:cNvPr>
          <p:cNvSpPr txBox="1"/>
          <p:nvPr/>
        </p:nvSpPr>
        <p:spPr>
          <a:xfrm>
            <a:off x="10161073" y="1905877"/>
            <a:ext cx="1154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Where to</a:t>
            </a:r>
            <a:b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next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9212C0-44E1-4A6E-51A1-E92CC56F11AA}"/>
              </a:ext>
            </a:extLst>
          </p:cNvPr>
          <p:cNvSpPr txBox="1"/>
          <p:nvPr/>
        </p:nvSpPr>
        <p:spPr>
          <a:xfrm>
            <a:off x="1292637" y="2195837"/>
            <a:ext cx="1589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LLM ITINEARY GENERATION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7DA356-4632-E608-9C0A-6A38EBE0ACC6}"/>
              </a:ext>
            </a:extLst>
          </p:cNvPr>
          <p:cNvSpPr txBox="1"/>
          <p:nvPr/>
        </p:nvSpPr>
        <p:spPr>
          <a:xfrm>
            <a:off x="4654046" y="2161504"/>
            <a:ext cx="1589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TRACKING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D83649-358F-FAD0-8C9A-72B5AB613ECA}"/>
              </a:ext>
            </a:extLst>
          </p:cNvPr>
          <p:cNvSpPr txBox="1"/>
          <p:nvPr/>
        </p:nvSpPr>
        <p:spPr>
          <a:xfrm>
            <a:off x="1235401" y="3353009"/>
            <a:ext cx="15893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VOICE COMMAND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C19993D-5156-0522-E6B4-2A85DD516681}"/>
              </a:ext>
            </a:extLst>
          </p:cNvPr>
          <p:cNvSpPr txBox="1"/>
          <p:nvPr/>
        </p:nvSpPr>
        <p:spPr>
          <a:xfrm>
            <a:off x="4590443" y="3340529"/>
            <a:ext cx="187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SMART ROUTE-OPTIMIZATION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7D7345-34C6-BC68-86E8-74AE9EAC0BE4}"/>
              </a:ext>
            </a:extLst>
          </p:cNvPr>
          <p:cNvSpPr txBox="1"/>
          <p:nvPr/>
        </p:nvSpPr>
        <p:spPr>
          <a:xfrm>
            <a:off x="1267294" y="4698815"/>
            <a:ext cx="1871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MID-TRIP REPLANNING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E12D9C-74B3-E879-D304-8C14F0E59008}"/>
              </a:ext>
            </a:extLst>
          </p:cNvPr>
          <p:cNvSpPr txBox="1"/>
          <p:nvPr/>
        </p:nvSpPr>
        <p:spPr>
          <a:xfrm>
            <a:off x="4512795" y="4892492"/>
            <a:ext cx="1871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FALLBACK</a:t>
            </a:r>
          </a:p>
        </p:txBody>
      </p:sp>
    </p:spTree>
    <p:extLst>
      <p:ext uri="{BB962C8B-B14F-4D97-AF65-F5344CB8AC3E}">
        <p14:creationId xmlns:p14="http://schemas.microsoft.com/office/powerpoint/2010/main" val="562354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1806338" y="2860798"/>
            <a:ext cx="1584960" cy="1584960"/>
          </a:xfrm>
          <a:prstGeom prst="ellipse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3306564" y="3502708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 rot="2160000">
            <a:off x="3154748" y="3969949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Shape 5"/>
          <p:cNvSpPr/>
          <p:nvPr/>
        </p:nvSpPr>
        <p:spPr>
          <a:xfrm rot="4320000">
            <a:off x="2757290" y="4258720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Shape 6"/>
          <p:cNvSpPr/>
          <p:nvPr/>
        </p:nvSpPr>
        <p:spPr>
          <a:xfrm rot="6480000">
            <a:off x="2266003" y="4258720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Shape 7"/>
          <p:cNvSpPr/>
          <p:nvPr/>
        </p:nvSpPr>
        <p:spPr>
          <a:xfrm rot="8640000">
            <a:off x="1868544" y="3969949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 rot="10800000">
            <a:off x="1716728" y="3502708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Shape 9"/>
          <p:cNvSpPr/>
          <p:nvPr/>
        </p:nvSpPr>
        <p:spPr>
          <a:xfrm rot="12960000">
            <a:off x="1868544" y="3035467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Shape 10"/>
          <p:cNvSpPr/>
          <p:nvPr/>
        </p:nvSpPr>
        <p:spPr>
          <a:xfrm rot="15120000">
            <a:off x="2266003" y="2746695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 rot="17280000">
            <a:off x="2757290" y="2746695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2"/>
          <p:cNvSpPr/>
          <p:nvPr/>
        </p:nvSpPr>
        <p:spPr>
          <a:xfrm rot="19440000">
            <a:off x="3154748" y="3035467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2050178" y="3104638"/>
            <a:ext cx="1097280" cy="1097280"/>
          </a:xfrm>
          <a:prstGeom prst="ellipse">
            <a:avLst/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Shape 26"/>
          <p:cNvSpPr/>
          <p:nvPr/>
        </p:nvSpPr>
        <p:spPr>
          <a:xfrm>
            <a:off x="4124506" y="1493811"/>
            <a:ext cx="1901952" cy="1901952"/>
          </a:xfrm>
          <a:prstGeom prst="ellipse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5924289" y="2264102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Shape 28"/>
          <p:cNvSpPr/>
          <p:nvPr/>
        </p:nvSpPr>
        <p:spPr>
          <a:xfrm rot="2160000">
            <a:off x="5742204" y="2824504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1" name="Shape 29"/>
          <p:cNvSpPr/>
          <p:nvPr/>
        </p:nvSpPr>
        <p:spPr>
          <a:xfrm rot="4320000">
            <a:off x="5265496" y="3170852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Shape 30"/>
          <p:cNvSpPr/>
          <p:nvPr/>
        </p:nvSpPr>
        <p:spPr>
          <a:xfrm rot="6480000">
            <a:off x="4676255" y="3170852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3" name="Shape 31"/>
          <p:cNvSpPr/>
          <p:nvPr/>
        </p:nvSpPr>
        <p:spPr>
          <a:xfrm rot="8640000">
            <a:off x="4199547" y="2824504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4" name="Shape 32"/>
          <p:cNvSpPr/>
          <p:nvPr/>
        </p:nvSpPr>
        <p:spPr>
          <a:xfrm rot="10800000">
            <a:off x="4017461" y="2264102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Shape 33"/>
          <p:cNvSpPr/>
          <p:nvPr/>
        </p:nvSpPr>
        <p:spPr>
          <a:xfrm rot="12960000">
            <a:off x="4199547" y="1703699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6" name="Shape 34"/>
          <p:cNvSpPr/>
          <p:nvPr/>
        </p:nvSpPr>
        <p:spPr>
          <a:xfrm rot="15120000">
            <a:off x="4676255" y="1357351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7" name="Shape 35"/>
          <p:cNvSpPr/>
          <p:nvPr/>
        </p:nvSpPr>
        <p:spPr>
          <a:xfrm rot="17280000">
            <a:off x="5265496" y="1357351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8" name="Shape 36"/>
          <p:cNvSpPr/>
          <p:nvPr/>
        </p:nvSpPr>
        <p:spPr>
          <a:xfrm rot="19440000">
            <a:off x="5742204" y="1703699"/>
            <a:ext cx="209215" cy="361371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9" name="Shape 37"/>
          <p:cNvSpPr/>
          <p:nvPr/>
        </p:nvSpPr>
        <p:spPr>
          <a:xfrm>
            <a:off x="4417114" y="1786419"/>
            <a:ext cx="1316736" cy="1316736"/>
          </a:xfrm>
          <a:prstGeom prst="ellipse">
            <a:avLst/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0" name="Shape 38"/>
          <p:cNvSpPr/>
          <p:nvPr/>
        </p:nvSpPr>
        <p:spPr>
          <a:xfrm>
            <a:off x="7065181" y="2599618"/>
            <a:ext cx="1584960" cy="1584960"/>
          </a:xfrm>
          <a:prstGeom prst="ellipse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Shape 39"/>
          <p:cNvSpPr/>
          <p:nvPr/>
        </p:nvSpPr>
        <p:spPr>
          <a:xfrm>
            <a:off x="8565407" y="3241528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2" name="Shape 40"/>
          <p:cNvSpPr/>
          <p:nvPr/>
        </p:nvSpPr>
        <p:spPr>
          <a:xfrm rot="2160000">
            <a:off x="8413591" y="3708769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3" name="Shape 41"/>
          <p:cNvSpPr/>
          <p:nvPr/>
        </p:nvSpPr>
        <p:spPr>
          <a:xfrm rot="4320000">
            <a:off x="8016133" y="3997540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4" name="Shape 42"/>
          <p:cNvSpPr/>
          <p:nvPr/>
        </p:nvSpPr>
        <p:spPr>
          <a:xfrm rot="6480000">
            <a:off x="7524846" y="3997540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5" name="Shape 43"/>
          <p:cNvSpPr/>
          <p:nvPr/>
        </p:nvSpPr>
        <p:spPr>
          <a:xfrm rot="8640000">
            <a:off x="7127387" y="3708769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6" name="Shape 44"/>
          <p:cNvSpPr/>
          <p:nvPr/>
        </p:nvSpPr>
        <p:spPr>
          <a:xfrm rot="10800000">
            <a:off x="6975571" y="3241528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7" name="Shape 45"/>
          <p:cNvSpPr/>
          <p:nvPr/>
        </p:nvSpPr>
        <p:spPr>
          <a:xfrm rot="12960000">
            <a:off x="7127387" y="2774287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8" name="Shape 46"/>
          <p:cNvSpPr/>
          <p:nvPr/>
        </p:nvSpPr>
        <p:spPr>
          <a:xfrm rot="15120000">
            <a:off x="7524846" y="2485515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9" name="Shape 47"/>
          <p:cNvSpPr/>
          <p:nvPr/>
        </p:nvSpPr>
        <p:spPr>
          <a:xfrm rot="17280000">
            <a:off x="8016133" y="2485515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0" name="Shape 48"/>
          <p:cNvSpPr/>
          <p:nvPr/>
        </p:nvSpPr>
        <p:spPr>
          <a:xfrm rot="19440000">
            <a:off x="8413591" y="2774287"/>
            <a:ext cx="174345" cy="30114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1" name="Shape 49"/>
          <p:cNvSpPr/>
          <p:nvPr/>
        </p:nvSpPr>
        <p:spPr>
          <a:xfrm>
            <a:off x="7309021" y="2843458"/>
            <a:ext cx="1097280" cy="1097280"/>
          </a:xfrm>
          <a:prstGeom prst="ellipse">
            <a:avLst/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4" name="Shape 62"/>
          <p:cNvSpPr/>
          <p:nvPr/>
        </p:nvSpPr>
        <p:spPr>
          <a:xfrm>
            <a:off x="8913226" y="1978077"/>
            <a:ext cx="1341120" cy="1341120"/>
          </a:xfrm>
          <a:prstGeom prst="ellipse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5" name="Shape 63"/>
          <p:cNvSpPr/>
          <p:nvPr/>
        </p:nvSpPr>
        <p:spPr>
          <a:xfrm>
            <a:off x="10183023" y="2521231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6" name="Shape 64"/>
          <p:cNvSpPr/>
          <p:nvPr/>
        </p:nvSpPr>
        <p:spPr>
          <a:xfrm rot="2160000">
            <a:off x="10054491" y="2916809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7" name="Shape 65"/>
          <p:cNvSpPr/>
          <p:nvPr/>
        </p:nvSpPr>
        <p:spPr>
          <a:xfrm rot="4320000">
            <a:off x="9717993" y="3161291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8" name="Shape 66"/>
          <p:cNvSpPr/>
          <p:nvPr/>
        </p:nvSpPr>
        <p:spPr>
          <a:xfrm rot="6480000">
            <a:off x="9302057" y="3161291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9" name="Shape 67"/>
          <p:cNvSpPr/>
          <p:nvPr/>
        </p:nvSpPr>
        <p:spPr>
          <a:xfrm rot="8640000">
            <a:off x="8965557" y="2916809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0" name="Shape 68"/>
          <p:cNvSpPr/>
          <p:nvPr/>
        </p:nvSpPr>
        <p:spPr>
          <a:xfrm rot="10800000">
            <a:off x="8837026" y="2521231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1" name="Shape 69"/>
          <p:cNvSpPr/>
          <p:nvPr/>
        </p:nvSpPr>
        <p:spPr>
          <a:xfrm rot="12960000">
            <a:off x="8965557" y="2125652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2" name="Shape 70"/>
          <p:cNvSpPr/>
          <p:nvPr/>
        </p:nvSpPr>
        <p:spPr>
          <a:xfrm rot="15120000">
            <a:off x="9302057" y="1881172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3" name="Shape 71"/>
          <p:cNvSpPr/>
          <p:nvPr/>
        </p:nvSpPr>
        <p:spPr>
          <a:xfrm rot="17280000">
            <a:off x="9717993" y="1881172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4" name="Shape 72"/>
          <p:cNvSpPr/>
          <p:nvPr/>
        </p:nvSpPr>
        <p:spPr>
          <a:xfrm rot="19440000">
            <a:off x="10054491" y="2125652"/>
            <a:ext cx="147523" cy="254813"/>
          </a:xfrm>
          <a:prstGeom prst="rect">
            <a:avLst/>
          </a:prstGeom>
          <a:solidFill>
            <a:srgbClr val="B8BDC8"/>
          </a:solidFill>
          <a:ln w="12700">
            <a:solidFill>
              <a:srgbClr val="B8BDC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5" name="Shape 73"/>
          <p:cNvSpPr/>
          <p:nvPr/>
        </p:nvSpPr>
        <p:spPr>
          <a:xfrm>
            <a:off x="9120490" y="2185341"/>
            <a:ext cx="926592" cy="926592"/>
          </a:xfrm>
          <a:prstGeom prst="ellipse">
            <a:avLst/>
          </a:prstGeom>
          <a:solidFill>
            <a:srgbClr val="E4E8EE"/>
          </a:solidFill>
          <a:ln w="12700">
            <a:solidFill>
              <a:srgbClr val="E4E8EE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17" y="3411877"/>
            <a:ext cx="482803" cy="482803"/>
          </a:xfrm>
          <a:prstGeom prst="rect">
            <a:avLst/>
          </a:prstGeom>
        </p:spPr>
      </p:pic>
      <p:sp>
        <p:nvSpPr>
          <p:cNvPr id="77" name="Shape 74"/>
          <p:cNvSpPr/>
          <p:nvPr/>
        </p:nvSpPr>
        <p:spPr>
          <a:xfrm>
            <a:off x="2598818" y="4445758"/>
            <a:ext cx="0" cy="2072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78" name="Text 75"/>
          <p:cNvSpPr/>
          <p:nvPr/>
        </p:nvSpPr>
        <p:spPr>
          <a:xfrm>
            <a:off x="1379618" y="4782567"/>
            <a:ext cx="24384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67" dirty="0"/>
          </a:p>
        </p:txBody>
      </p:sp>
      <p:sp>
        <p:nvSpPr>
          <p:cNvPr id="79" name="Text 76"/>
          <p:cNvSpPr/>
          <p:nvPr/>
        </p:nvSpPr>
        <p:spPr>
          <a:xfrm>
            <a:off x="1458335" y="5168144"/>
            <a:ext cx="24384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</a:t>
            </a: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Vite</a:t>
            </a:r>
            <a:endParaRPr lang="en-US" sz="1400" dirty="0"/>
          </a:p>
        </p:txBody>
      </p:sp>
      <p:sp>
        <p:nvSpPr>
          <p:cNvPr id="83" name="Text 79"/>
          <p:cNvSpPr/>
          <p:nvPr/>
        </p:nvSpPr>
        <p:spPr>
          <a:xfrm>
            <a:off x="1849559" y="5517443"/>
            <a:ext cx="1649525" cy="5049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Maps</a:t>
            </a:r>
            <a:endParaRPr lang="en-US" sz="1400" dirty="0"/>
          </a:p>
        </p:txBody>
      </p:sp>
      <p:pic>
        <p:nvPicPr>
          <p:cNvPr id="8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760" y="2155105"/>
            <a:ext cx="579364" cy="579364"/>
          </a:xfrm>
          <a:prstGeom prst="rect">
            <a:avLst/>
          </a:prstGeom>
        </p:spPr>
      </p:pic>
      <p:sp>
        <p:nvSpPr>
          <p:cNvPr id="85" name="Shape 80"/>
          <p:cNvSpPr/>
          <p:nvPr/>
        </p:nvSpPr>
        <p:spPr>
          <a:xfrm>
            <a:off x="5075482" y="1493811"/>
            <a:ext cx="0" cy="60960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6" name="Text 81"/>
          <p:cNvSpPr/>
          <p:nvPr/>
        </p:nvSpPr>
        <p:spPr>
          <a:xfrm>
            <a:off x="3984578" y="3918330"/>
            <a:ext cx="24384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67" dirty="0"/>
          </a:p>
        </p:txBody>
      </p:sp>
      <p:sp>
        <p:nvSpPr>
          <p:cNvPr id="87" name="Text 82"/>
          <p:cNvSpPr/>
          <p:nvPr/>
        </p:nvSpPr>
        <p:spPr>
          <a:xfrm>
            <a:off x="4013211" y="4179487"/>
            <a:ext cx="24384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3.11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LLM</a:t>
            </a:r>
            <a:endParaRPr lang="en-US" sz="1400" dirty="0"/>
          </a:p>
        </p:txBody>
      </p:sp>
      <p:pic>
        <p:nvPicPr>
          <p:cNvPr id="8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260" y="3150697"/>
            <a:ext cx="482803" cy="482803"/>
          </a:xfrm>
          <a:prstGeom prst="rect">
            <a:avLst/>
          </a:prstGeom>
        </p:spPr>
      </p:pic>
      <p:sp>
        <p:nvSpPr>
          <p:cNvPr id="89" name="Shape 83"/>
          <p:cNvSpPr/>
          <p:nvPr/>
        </p:nvSpPr>
        <p:spPr>
          <a:xfrm>
            <a:off x="7857661" y="4184578"/>
            <a:ext cx="0" cy="195072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0" name="Text 84"/>
          <p:cNvSpPr/>
          <p:nvPr/>
        </p:nvSpPr>
        <p:spPr>
          <a:xfrm>
            <a:off x="6741055" y="4377665"/>
            <a:ext cx="24384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Geo</a:t>
            </a:r>
            <a:endParaRPr lang="en-US" sz="1467" dirty="0"/>
          </a:p>
        </p:txBody>
      </p:sp>
      <p:sp>
        <p:nvSpPr>
          <p:cNvPr id="91" name="Text 85"/>
          <p:cNvSpPr/>
          <p:nvPr/>
        </p:nvSpPr>
        <p:spPr>
          <a:xfrm>
            <a:off x="6713965" y="4620768"/>
            <a:ext cx="24384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 + Nominatim</a:t>
            </a:r>
            <a:endParaRPr lang="en-US" sz="1400" dirty="0"/>
          </a:p>
          <a:p>
            <a:pPr algn="ctr"/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 Routing</a:t>
            </a:r>
            <a:endParaRPr lang="en-US" sz="1400" dirty="0"/>
          </a:p>
        </p:txBody>
      </p:sp>
      <p:pic>
        <p:nvPicPr>
          <p:cNvPr id="9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936" y="2444787"/>
            <a:ext cx="407700" cy="407700"/>
          </a:xfrm>
          <a:prstGeom prst="rect">
            <a:avLst/>
          </a:prstGeom>
        </p:spPr>
      </p:pic>
      <p:sp>
        <p:nvSpPr>
          <p:cNvPr id="97" name="Shape 89"/>
          <p:cNvSpPr/>
          <p:nvPr/>
        </p:nvSpPr>
        <p:spPr>
          <a:xfrm>
            <a:off x="9583786" y="3319197"/>
            <a:ext cx="0" cy="20726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98" name="Text 90"/>
          <p:cNvSpPr/>
          <p:nvPr/>
        </p:nvSpPr>
        <p:spPr>
          <a:xfrm>
            <a:off x="8364586" y="3526461"/>
            <a:ext cx="243840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222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Voice/LLM</a:t>
            </a:r>
            <a:endParaRPr lang="en-US" sz="1467" dirty="0"/>
          </a:p>
        </p:txBody>
      </p:sp>
      <p:sp>
        <p:nvSpPr>
          <p:cNvPr id="99" name="Text 91"/>
          <p:cNvSpPr/>
          <p:nvPr/>
        </p:nvSpPr>
        <p:spPr>
          <a:xfrm>
            <a:off x="8364586" y="3831261"/>
            <a:ext cx="24384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Fallback</a:t>
            </a:r>
            <a:endParaRPr lang="en-US" sz="1200" dirty="0"/>
          </a:p>
        </p:txBody>
      </p:sp>
      <p:sp>
        <p:nvSpPr>
          <p:cNvPr id="103" name="Shape 83">
            <a:extLst>
              <a:ext uri="{FF2B5EF4-FFF2-40B4-BE49-F238E27FC236}">
                <a16:creationId xmlns:a16="http://schemas.microsoft.com/office/drawing/2014/main" id="{326A73B8-0581-F012-BC5D-AA6F77F427F9}"/>
              </a:ext>
            </a:extLst>
          </p:cNvPr>
          <p:cNvSpPr/>
          <p:nvPr/>
        </p:nvSpPr>
        <p:spPr>
          <a:xfrm>
            <a:off x="5093535" y="3575947"/>
            <a:ext cx="0" cy="283393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0" name="Title 1">
            <a:extLst>
              <a:ext uri="{FF2B5EF4-FFF2-40B4-BE49-F238E27FC236}">
                <a16:creationId xmlns:a16="http://schemas.microsoft.com/office/drawing/2014/main" id="{6D5C92C1-AA77-F198-11F9-2914AC1BEEC6}"/>
              </a:ext>
            </a:extLst>
          </p:cNvPr>
          <p:cNvSpPr txBox="1">
            <a:spLocks/>
          </p:cNvSpPr>
          <p:nvPr/>
        </p:nvSpPr>
        <p:spPr>
          <a:xfrm>
            <a:off x="228666" y="308732"/>
            <a:ext cx="4385155" cy="718228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900" dirty="0">
                <a:solidFill>
                  <a:schemeClr val="tx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TECH STACK</a:t>
            </a:r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6AD692D8-1DFB-45B8-EC69-5D518B7895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8294" y="5868702"/>
            <a:ext cx="1072357" cy="8161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694BA1B-42FD-D4A6-0F66-F6DFDED574BE}"/>
              </a:ext>
            </a:extLst>
          </p:cNvPr>
          <p:cNvGrpSpPr/>
          <p:nvPr/>
        </p:nvGrpSpPr>
        <p:grpSpPr>
          <a:xfrm>
            <a:off x="3672073" y="1517402"/>
            <a:ext cx="4847851" cy="816108"/>
            <a:chOff x="5319286" y="1725519"/>
            <a:chExt cx="3817134" cy="71744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1A97E9B-7B7D-45CB-8EFD-400088C42492}"/>
                </a:ext>
              </a:extLst>
            </p:cNvPr>
            <p:cNvSpPr/>
            <p:nvPr/>
          </p:nvSpPr>
          <p:spPr>
            <a:xfrm>
              <a:off x="5319286" y="1725519"/>
              <a:ext cx="3817134" cy="71744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000" b="1" dirty="0">
                  <a:latin typeface="Cambria" panose="02040503050406030204" pitchFamily="18" charset="0"/>
                  <a:ea typeface="Cambria" panose="02040503050406030204" pitchFamily="18" charset="0"/>
                </a:rPr>
                <a:t>PivotMyTrip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684DC36-60A4-6F33-2437-7461B1FE81C1}"/>
                </a:ext>
              </a:extLst>
            </p:cNvPr>
            <p:cNvGrpSpPr/>
            <p:nvPr/>
          </p:nvGrpSpPr>
          <p:grpSpPr>
            <a:xfrm>
              <a:off x="5319286" y="1725520"/>
              <a:ext cx="578940" cy="717443"/>
              <a:chOff x="-1070883" y="1692642"/>
              <a:chExt cx="635373" cy="783717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E78A026A-3F97-7DD8-ACA0-109776EEA537}"/>
                  </a:ext>
                </a:extLst>
              </p:cNvPr>
              <p:cNvSpPr/>
              <p:nvPr/>
            </p:nvSpPr>
            <p:spPr>
              <a:xfrm>
                <a:off x="-1070883" y="1692642"/>
                <a:ext cx="635373" cy="783717"/>
              </a:xfrm>
              <a:prstGeom prst="round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7" name="Graphic 6" descr="Marker outline">
                <a:extLst>
                  <a:ext uri="{FF2B5EF4-FFF2-40B4-BE49-F238E27FC236}">
                    <a16:creationId xmlns:a16="http://schemas.microsoft.com/office/drawing/2014/main" id="{2DEC0814-43CF-8074-4999-B00FC6F722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-1070883" y="1798869"/>
                <a:ext cx="635373" cy="571263"/>
              </a:xfrm>
              <a:prstGeom prst="rect">
                <a:avLst/>
              </a:prstGeom>
            </p:spPr>
          </p:pic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448155D-1E55-08BD-FEAC-2AD0A8561A4B}"/>
              </a:ext>
            </a:extLst>
          </p:cNvPr>
          <p:cNvGrpSpPr/>
          <p:nvPr/>
        </p:nvGrpSpPr>
        <p:grpSpPr>
          <a:xfrm>
            <a:off x="9107711" y="5996145"/>
            <a:ext cx="2714177" cy="575736"/>
            <a:chOff x="3926115" y="4388149"/>
            <a:chExt cx="3585863" cy="950688"/>
          </a:xfrm>
        </p:grpSpPr>
        <p:sp>
          <p:nvSpPr>
            <p:cNvPr id="8" name="Arrow: Chevron 7">
              <a:extLst>
                <a:ext uri="{FF2B5EF4-FFF2-40B4-BE49-F238E27FC236}">
                  <a16:creationId xmlns:a16="http://schemas.microsoft.com/office/drawing/2014/main" id="{DE83CB26-BC85-BFAB-7AC1-932C902ADB8C}"/>
                </a:ext>
              </a:extLst>
            </p:cNvPr>
            <p:cNvSpPr/>
            <p:nvPr/>
          </p:nvSpPr>
          <p:spPr>
            <a:xfrm>
              <a:off x="3926115" y="4388151"/>
              <a:ext cx="735268" cy="950686"/>
            </a:xfrm>
            <a:prstGeom prst="chevron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563666FB-0B3D-50C1-55AA-EE1333910506}"/>
                </a:ext>
              </a:extLst>
            </p:cNvPr>
            <p:cNvSpPr/>
            <p:nvPr/>
          </p:nvSpPr>
          <p:spPr>
            <a:xfrm>
              <a:off x="4917906" y="4388149"/>
              <a:ext cx="735268" cy="950686"/>
            </a:xfrm>
            <a:prstGeom prst="chevron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0" name="Arrow: Chevron 9">
              <a:extLst>
                <a:ext uri="{FF2B5EF4-FFF2-40B4-BE49-F238E27FC236}">
                  <a16:creationId xmlns:a16="http://schemas.microsoft.com/office/drawing/2014/main" id="{E623D820-9CD9-5153-66CB-BCD470F10FEC}"/>
                </a:ext>
              </a:extLst>
            </p:cNvPr>
            <p:cNvSpPr/>
            <p:nvPr/>
          </p:nvSpPr>
          <p:spPr>
            <a:xfrm>
              <a:off x="5863402" y="4388149"/>
              <a:ext cx="735268" cy="950686"/>
            </a:xfrm>
            <a:prstGeom prst="chevron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1" name="Arrow: Chevron 10">
              <a:extLst>
                <a:ext uri="{FF2B5EF4-FFF2-40B4-BE49-F238E27FC236}">
                  <a16:creationId xmlns:a16="http://schemas.microsoft.com/office/drawing/2014/main" id="{92EC22B0-22AB-8015-AEDA-1DD812901085}"/>
                </a:ext>
              </a:extLst>
            </p:cNvPr>
            <p:cNvSpPr/>
            <p:nvPr/>
          </p:nvSpPr>
          <p:spPr>
            <a:xfrm>
              <a:off x="6776710" y="4388149"/>
              <a:ext cx="735268" cy="950686"/>
            </a:xfrm>
            <a:prstGeom prst="chevron">
              <a:avLst/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95340EE-EB6A-33EC-BE38-A9F05B801AA6}"/>
              </a:ext>
            </a:extLst>
          </p:cNvPr>
          <p:cNvSpPr txBox="1">
            <a:spLocks/>
          </p:cNvSpPr>
          <p:nvPr/>
        </p:nvSpPr>
        <p:spPr>
          <a:xfrm>
            <a:off x="2952880" y="3282987"/>
            <a:ext cx="6286239" cy="105886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500" b="1" dirty="0">
                <a:latin typeface="Cambria" panose="02040503050406030204" pitchFamily="18" charset="0"/>
                <a:ea typeface="Cambria" panose="02040503050406030204" pitchFamily="18" charset="0"/>
              </a:rPr>
              <a:t>Let’s Explore the demo</a:t>
            </a:r>
          </a:p>
        </p:txBody>
      </p:sp>
    </p:spTree>
    <p:extLst>
      <p:ext uri="{BB962C8B-B14F-4D97-AF65-F5344CB8AC3E}">
        <p14:creationId xmlns:p14="http://schemas.microsoft.com/office/powerpoint/2010/main" val="926983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168</Words>
  <Application>Microsoft Office PowerPoint</Application>
  <PresentationFormat>Widescreen</PresentationFormat>
  <Paragraphs>42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Cambria</vt:lpstr>
      <vt:lpstr>Times New Roman</vt:lpstr>
      <vt:lpstr>Office Theme</vt:lpstr>
      <vt:lpstr>PowerPoint Presentation</vt:lpstr>
      <vt:lpstr>PROBLEM STATEMENT</vt:lpstr>
      <vt:lpstr>SOLUTION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Pranjal Wakpaijan</dc:creator>
  <cp:lastModifiedBy>Abhilasha Singh</cp:lastModifiedBy>
  <cp:revision>4</cp:revision>
  <dcterms:created xsi:type="dcterms:W3CDTF">2026-04-21T21:55:44Z</dcterms:created>
  <dcterms:modified xsi:type="dcterms:W3CDTF">2026-04-23T02:20:52Z</dcterms:modified>
</cp:coreProperties>
</file>